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74340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4754880" cy="228600"/>
          </a:xfrm>
          <a:prstGeom prst="rect">
            <a:avLst/>
          </a:prstGeom>
          <a:solidFill>
            <a:srgbClr val="0D1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57800"/>
            <a:ext cx="4754880" cy="228600"/>
          </a:xfrm>
          <a:prstGeom prst="rect">
            <a:avLst/>
          </a:prstGeom>
          <a:solidFill>
            <a:srgbClr val="0D2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4754880" cy="228600"/>
          </a:xfrm>
          <a:prstGeom prst="rect">
            <a:avLst/>
          </a:prstGeom>
          <a:solidFill>
            <a:srgbClr val="0D2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4754880" cy="228600"/>
          </a:xfrm>
          <a:prstGeom prst="rect">
            <a:avLst/>
          </a:prstGeom>
          <a:solidFill>
            <a:srgbClr val="0D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4754880" cy="228600"/>
          </a:xfrm>
          <a:prstGeom prst="rect">
            <a:avLst/>
          </a:prstGeom>
          <a:solidFill>
            <a:srgbClr val="0D2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4754880" cy="228600"/>
          </a:xfrm>
          <a:prstGeom prst="rect">
            <a:avLst/>
          </a:prstGeom>
          <a:solidFill>
            <a:srgbClr val="0D3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4754880" cy="228600"/>
          </a:xfrm>
          <a:prstGeom prst="rect">
            <a:avLst/>
          </a:prstGeom>
          <a:solidFill>
            <a:srgbClr val="0D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4754880" cy="228600"/>
          </a:xfrm>
          <a:prstGeom prst="rect">
            <a:avLst/>
          </a:prstGeom>
          <a:solidFill>
            <a:srgbClr val="0D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3474720" cy="11096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B8A6"/>
                </a:solidFill>
              </a:defRPr>
            </a:pPr>
            <a:r>
              <a:t>MedicFlow-AI · Plataforma Operacional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8288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Inteligência que conecta.</a:t>
            </a:r>
            <a:br/>
            <a:r>
              <a:t>Operação que transforma.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Escalas, plantões, faturamento TISS e indicadores em tempo real — em um único fluxo.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84048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E3A5F"/>
                </a:solidFill>
              </a:defRPr>
            </a:pPr>
            <a:r>
              <a:t>Apresentação Executiva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6177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Investor / Executive Edition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0749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Diretores, investidores e tomadores de decisão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56692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Junho 2026 · Base: auditoria funcional do produto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Quem Somos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Plataforma operacional hospitalar multi-tenant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O MedicFlow-AI unifica gestão de escalas e plantões, central operacional com indicadores em tempo real, faturamento TISS (MVP), fechamento financeiro e implantação assistida.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Stack: React 19 + TanStack Start (SSR) + Supabase (Auth, Postgres, Realtime, Storage) + deploy Cloudflare Workers.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Posicionamento V1: plataforma operacional + faturamento TISS MVP — não é prontuário eletrônico nem ERP hospitalar completo.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Validado em staging (medicflow.app.br) com 20 rotas, 17 telas autenticadas e 52 funcionalidades implementadas.</a:t>
            </a:r>
          </a:p>
        </p:txBody>
      </p:sp>
      <p:pic>
        <p:nvPicPr>
          <p:cNvPr id="8" name="Picture 7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39496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Problema do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Desafios operacionais e financeiros em instituições de saúde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1732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Escalas em planilhas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Confirmações por WhatsApp, sem visibilidade de cobertura em tempo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Faturamento disperso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Guias TISS manuais, lotes sem rastreio, glosas sem controle centralizado.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Fechamento fragmentado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85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Competências sem snapshot auditável, conciliação em múltiplas ferramentas.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8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Implantação imprevisível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Demos desorganizadas, sem roteiro, sem validação técnica de go-live.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5780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Sistemas isolados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052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Operação, financeiro e faturamento sem fluxo integrado multi-instituição.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Solução MedicFlow-AI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Um único fluxo para operação, financeiro e implantação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Gestão de escalas (14 dias) e plantões com aceite, recusa e swaps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Central operacional com alertas em tempo real e ações contextuais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Ciclo TISS integrado: convênios → guias → lotes → glosas → repasses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Fechamento financeiro com snapshot, trava e dashboard executivo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Implantação assistida: piloto, demo guiada (7 passos), smoke tests</a:t>
            </a:r>
          </a:p>
        </p:txBody>
      </p:sp>
      <p:pic>
        <p:nvPicPr>
          <p:cNvPr id="8" name="Picture 7" descr="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17320"/>
            <a:ext cx="548640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Público-Alvo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5 perfis RBAC com capabilities granulares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Segmento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Perfil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Necessidade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Hospitais e clínicas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67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tenant_admin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671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Branding, parametrização, go-live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15768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25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Coordenadores de escala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254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254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Publicar turnos, resolver conflitos, swaps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74136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838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Profissionais de plantão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4838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professional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838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Confirmar plantões, disponibilidade, trocas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32504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42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Equipe financeira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422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financial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422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TISS, repasses, fechamento, conciliação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90872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Diretoria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800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tenant_admin + executivo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KPIs financeiros e operacionais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V1 não atende: prontuário eletrônico, gestão de pacientes, agenda ambulatorial ou envio automático TISS a operadoras.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Arquitetura da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Stack moderna, multi-tenant nativo, deploy flexível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Rotas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Telas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Fluxos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Perfis RBAC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Funcionalidades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926080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99923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React 19 + TanStack Start (SSR) · Roteamento file-based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93008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566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~100+ Server Functions (TanStack createServerFn)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59936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33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13308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Supabase Postgres + RLS · 30 migrations 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26864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700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70001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Supabase Realtime · Central operacional ao vivo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193792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669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2669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Cloudflare Workers (primário) ou Vercel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760720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833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Segurança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83387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Auth multi-tenant · RBAC · anti brute-force · auditoria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Visão operacional do dia com KPIs e escala em tempo real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Saudação personalizada e contadores de plantões abertos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Confirmações pendentes e swaps em destaque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Escala do dia com turnos programados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Links rápidos para Central, Escalas e Plantões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Atualização via Supabase Realtime</a:t>
            </a:r>
          </a:p>
        </p:txBody>
      </p:sp>
      <p:pic>
        <p:nvPicPr>
          <p:cNvPr id="8" name="Picture 7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76072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Gestão de Escalas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Calendário 14 dias com timeline de turnos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Barra horizontal dos próximos 14 dias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Filtros: conflitos, abertos, sem confirmação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Criação e edição de escalas (coordenador)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Timeline detalhada por turno e profissional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Integração com alertas da Central Operacional</a:t>
            </a:r>
          </a:p>
        </p:txBody>
      </p:sp>
      <p:pic>
        <p:nvPicPr>
          <p:cNvPr id="8" name="Picture 7" descr="03-agenda-esca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76072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Gestão de Plantões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Aceitar, recusar e trocar turnos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Plantões abertos para aceite/recusa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Meus plantões com histórico e status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Swaps: solicitar, aprovar e negar trocas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Fluxo integrado com escalas e central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Notificações operacionais em tempo real</a:t>
            </a:r>
          </a:p>
        </p:txBody>
      </p:sp>
      <p:pic>
        <p:nvPicPr>
          <p:cNvPr id="8" name="Picture 7" descr="04-plant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76072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Central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Command center com alertas e ações contextuais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KPIs e alertas em tempo real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Ações direcionadas por tipo de alerta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Copilot GPT (opcional, requer API key)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Agentes e orquestração supervisionada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Subscriptions Realtime para cobertura ao vivo</a:t>
            </a:r>
          </a:p>
        </p:txBody>
      </p:sp>
      <p:pic>
        <p:nvPicPr>
          <p:cNvPr id="8" name="Picture 7" descr="11-central-operac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76072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Perfil Profissional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Disponibilidade e configuração do profissional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Dados do profissional: nome, e-mail, papel, instituição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Switch de disponibilidade para plantões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Janelas padrão seg–sex 07:00–19:00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Integração com riscos de cobertura na central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Encerramento seguro de sessão</a:t>
            </a:r>
          </a:p>
        </p:txBody>
      </p:sp>
      <p:pic>
        <p:nvPicPr>
          <p:cNvPr id="8" name="Picture 7" descr="10-per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76072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Hub financeiro e fechamento operacional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Hub financeiro com links para sub-módulos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Fechamento de competência com snapshot e trava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Conciliação operacional com importação CSV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Reabertura de competência (admin)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Repasses médicos vinculados à produção TISS</a:t>
            </a:r>
          </a:p>
        </p:txBody>
      </p:sp>
      <p:pic>
        <p:nvPicPr>
          <p:cNvPr id="8" name="Picture 7" descr="05-financei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76072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KPIs financeiros e operacionais reais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Indicadores consolidados por competência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Visão para diretoria e equipe financeira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Dados reais (não ilustrativos)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Acesso via perfil financial_closing:read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Integrado ao fluxo de fechamento mensal</a:t>
            </a:r>
          </a:p>
        </p:txBody>
      </p:sp>
      <p:pic>
        <p:nvPicPr>
          <p:cNvPr id="8" name="Picture 7" descr="06-relatorios-dashboard-execu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76072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TISS / Faturamento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Ciclo completo MVP — convênios a repasses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Convênios, contratos e catálogo TUSS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Guias TISS e lotes com export XML (MVP)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Glosas e recursos (entrada manual)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Produção médica e repasses integrados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Sem envio automático a operadoras (V1)</a:t>
            </a:r>
          </a:p>
        </p:txBody>
      </p:sp>
      <p:pic>
        <p:nvPicPr>
          <p:cNvPr id="8" name="Picture 7" descr="09-t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76072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Proteção em todas as camadas — rota, serviço e banco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Login multi-tenant com seleção de instituição e recuperação de senha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RBAC com 5 papéis e 30+ capabilities — enforcement em rota + serviço + RLS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Row Level Security (RLS) Postgres em todas as tabelas multi-tenant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Gate anti brute-force e auditoria de login (security audit writer)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Guard de rotas e sessão com Supabase Auth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Isolamento por tenant: branding, dados e operações segregados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2286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14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</a:defRPr>
            </a:pPr>
            <a:r>
              <a:t>Postgres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828800"/>
            <a:ext cx="2286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514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</a:defRPr>
            </a:pPr>
            <a:r>
              <a:t>5 perfis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1440" y="1828800"/>
            <a:ext cx="2286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2514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</a:defRPr>
            </a:pPr>
            <a:r>
              <a:t>Multi-tenant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81760" y="1828800"/>
            <a:ext cx="2286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26464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0" y="2514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</a:defRPr>
            </a:pPr>
            <a:r>
              <a:t>Login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Pendente V1: error tracking externo (Sentry/Datadog) — atualmente stub console.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Implantação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Piloto assistido com demo guiada e go-live controlado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63040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Branding e parametrização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36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/instituicao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21408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Seed demo (ambiente controlado)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/instituicao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712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1–2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852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Cadastro de convênios TISS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52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/tiss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38144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295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1–2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511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Provisionamento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5112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Supabase 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96512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87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1696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Abertura de competência financeira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1696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/financeiro/fechamento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754880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846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Go-live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28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Smoke tests + monitoramento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828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/lancamento → /operacao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</a:defRPr>
            </a:pPr>
            <a:r>
              <a:t>Demo guiada: 7 passos — piloto → home → central → executivo → TISS → instituição → operação</a:t>
            </a:r>
          </a:p>
        </p:txBody>
      </p:sp>
      <p:pic>
        <p:nvPicPr>
          <p:cNvPr id="32" name="Picture 31" descr="08-administracao-pil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17320"/>
            <a:ext cx="4572000" cy="438912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Diferenciais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Vantagens competitivas comprovadas no produto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6304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Multi-tenant nativo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RLS Postgres + branding white-label por instituição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Operação em tempo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24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Supabase Realtime + Central Operacional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RBAC granular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93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5 papéis, 30+ capabilities, enforcement triplo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Ciclo TISS integrado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61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Guias → Lotes → Glosas → Repasses no mesmo tenant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Implantação assistida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55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Piloto, demo 7 passos, smoke tests, checklist go-live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33172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IA operacional (opcional)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24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Copilot GPT, agentes, orquestração supervisionada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Observabilidade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93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Health checks, export diagnóstico, timeline de eventos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Deploy flexível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61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Cloudflare Workers ou Vercel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Oportunidade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Saúde suplementar e gestão operacional digital no Brasil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Beneficiários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6.500+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Hospitais privados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R$ 300B+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Mercado saúde sup.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TISS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Padrão 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80360"/>
            <a:ext cx="9144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8803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Hospitais e redes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Gestão de plantões 24h, cobertura crítica e fechamento financeiro mensal — ainda fragmentada em planilhas e sistemas isolados.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49040"/>
            <a:ext cx="9144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49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Cooperativas médicas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Redes de profissionais com escalas multi-unidade, repasses complexos e faturamento TISS descentralizado.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17720"/>
            <a:ext cx="9144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177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Clínicas e day hospitals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Faturamento TISS, produção médica e conciliação sem visão executiva consolidada.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486400"/>
            <a:ext cx="9144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4864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Posicionamento MedicFlow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Plataforma operacional + faturamento TISS MVP — não prontuário nem ERP completo. Nicho claro, implantação rápida.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TAM endereçável: instituições médio porte com 50+ plantonistas e ciclo TISS ativo.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Investor / Executive · 08/06/2026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Caso de Uso — Hospital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Plantões 24h com visibilidade operacional em tempo real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Cenário: hospital privado com 150+ plantonistas, escalas em Excel e confirmações por WhatsApp.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188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Publicação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39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Coordenador cria turnos em Escalas (14 dias) com filtros de conflito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2888"/>
            <a:ext cx="1188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24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Confirmação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Profissionais aceitam/recusam em Plantões — swaps em fluxo integrado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99816"/>
            <a:ext cx="1188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91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Monitoramento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72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Central Operacional exibe KPIs, alertas e ações contextuais ao vivo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66744"/>
            <a:ext cx="1188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Fechamento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398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Competência financeira com snapshot, trava e dashboard executivo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Cobertura 24h visível sem planilhas paralelas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Swaps e conflitos resolvidos em minutos, não horas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Implantação assistida: piloto + go-live em ~5 dias úteis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150+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Plantonistas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24h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Cobertura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~5d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Go-live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Real-time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Central</a:t>
            </a:r>
          </a:p>
        </p:txBody>
      </p:sp>
      <p:pic>
        <p:nvPicPr>
          <p:cNvPr id="33" name="Picture 32" descr="04-plant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17320"/>
            <a:ext cx="5486400" cy="45720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Investor / Executive · 08/06/2026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Caso de Uso — Cooperativa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Multi-tenant para redes de profissionais e múltiplas unidades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Cenário: cooperativa com 200+ cooperados em 8 unidades, repasses manuais e TISS descentralizado.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Multi-tenant nativo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Uma cooperativa, múltiplas unidades — RLS Postgres e branding por instituição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15768"/>
            <a:ext cx="731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157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Escalas centralizadas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900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Coordenação de plantões entre unidades com RBAC granular (5 perfis)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65576"/>
            <a:ext cx="731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655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Repasse integrado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398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Produção TISS vinculada a repasses médicos por cooperado e competência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15384"/>
            <a:ext cx="731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153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Visão financeira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97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Dashboard executivo com KPIs reais — fechamento com snapshot auditável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65192"/>
            <a:ext cx="731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9651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Implantação escalável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395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Nova unidade com white-label em dias, sem rebuild da plataforma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200+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Cooperados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Unidades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Perfis RBAC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Plataforma</a:t>
            </a:r>
          </a:p>
        </p:txBody>
      </p:sp>
      <p:pic>
        <p:nvPicPr>
          <p:cNvPr id="35" name="Picture 34" descr="06-relatorios-dashboard-execu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17320"/>
            <a:ext cx="5486400" cy="45720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Investor / Executive · 08/06/2026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ROI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Retorno mensurável em eficiência e cobertura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-40%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Tempo em escalas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-25%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Glosas TISS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2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Fechamento mensal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6–12m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Payback 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80360"/>
            <a:ext cx="23774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Gestão de escalas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898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Elimina planilhas e confirmações por WhatsApp — central única com Realtime e alertas proativos.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53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-40% horas/semana da equipe de coordenação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38728"/>
            <a:ext cx="23774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301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Cobertura de plantões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5570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Central Operacional reduz turnos descobertos com swaps integrados e visibilidade 24h.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Menos horas extras e penalidades contratuais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97096"/>
            <a:ext cx="23774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885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Ciclo TISS rastreável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2153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Guias → lotes → glosas no mesmo tenant — menos perdas por falta de rastreio.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270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-25% glosas recuperáveis por documentação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55464"/>
            <a:ext cx="23774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469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Fechamento acelerado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873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Snapshot + trava de competência substitui consolidação manual em múltiplas ferramentas.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9286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De ~5 dias para ~2 dias no fechamento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Estimativas para instituição médio porte (80+ plantonistas). Payback considera redução de ferramentas paralelas e horas administrativas.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Investor / Executive · 08/06/2026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Benefícios Financeiros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Impacto direto em custos, receita e governança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63040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Redução de custos operacionais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Substitui planilhas, ferramentas paralelas e processos manuais por plataforma única multi-tenant.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67712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Otimização de receita TISS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Ciclo guias → lotes → glosas rastreável reduz perdas por glosa e acelera recursos.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72384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723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Governança financeira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649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Fechamento com snapshot auditável, trava de competência e dashboard executivo com KPIs reais.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77056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Escala comercial SaaS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966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White-label por tenant — nova unidade em dias, custo marginal baixo por implantação.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81728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Conciliação operacional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7433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Importação CSV e repasses médicos vinculados à produção — menos retrabalho no fechamento.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463040"/>
            <a:ext cx="576072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1600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Modelo de valor para decisores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Custo total de propriedade (TCO) menor que stack fragmentado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Receita protegida por rastreabilidade TISS e menos glosas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Visibilidade executiva para decisões de alocação e investimento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Implantação assistida reduz risco e tempo até valor (TTV)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Arquitetura multi-tenant pronta para crescimento de carteira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↓ TCO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vs. stack fragmentado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↑ Receita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menos glosas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↓ Risco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implantação guiada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534924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5532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↑ Escala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6099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multi-tenant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Investor / Executive · 08/06/2026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GAPs identificados na auditoria — não são promessas de entrega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17320"/>
            <a:ext cx="32918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Curto prazo — completar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XML TISS conforme ANS (parcial → alta prioridade)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Hub financeiro com KPIs reais (parcial → média)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Error tracking Sentry/Datadog (não implementado)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Cadastro UI de profissionais (não implementado)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17320"/>
            <a:ext cx="32918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Médio 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659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Envio TISS para operadoras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Conciliação bancária OFX/CNAB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Webhooks de retorno de operadoras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Auto-cadastro / convite de usuários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417320"/>
            <a:ext cx="32918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Longo prazo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9659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Módulo de Pacientes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Prontuário eletrônico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Agenda ambulatorial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Integração ERP/DRE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Resultados Esperados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Benefícios mensuráveis para a instituição</a:t>
            </a:r>
          </a:p>
        </p:txBody>
      </p:sp>
      <p:pic>
        <p:nvPicPr>
          <p:cNvPr id="6" name="Picture 5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37160"/>
            <a:ext cx="2433782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63040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Redução de planilhas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54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Escalas e plantões centralizados em plataforma única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Visibilidade de cobertura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128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Central com alertas em tempo real e ações direcionadas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79776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712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Rastreabilidade financeira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7121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Fechamento com snapshot, trava e auditoria de competência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38144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295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Ciclo TISS documentado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295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Guias, lotes e glosas rastreáveis no mesmo sistema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96512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879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Implantação previsível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18795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Checklist, smoke tests e demo guiada de 7 passos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White-label rápido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846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Branding sem rebuild — logo, cores e banner por tenant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13248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04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Segurança multi-tenant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5046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RLS + RBAC em todas as camadas de acesso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68%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Implementado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Parcial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Pendente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GAPs críticos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Screenshots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dic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731520"/>
            <a:ext cx="2926080" cy="934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MedicFlow-AI entrega valor imediato para gestão de plantões, visibilidade operacional e faturamento TISS básico.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4B8A6"/>
                </a:solidFill>
              </a:defRPr>
            </a:pPr>
            <a:r>
              <a:t>Implantação assistida (piloto, demo, go-live) é diferencial comercial sólido para diretoria e sponsors.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84048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40233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4590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Rotas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384048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40233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590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Telas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84048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40233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590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Fluxos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84048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0233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4590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RBAC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384048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40233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590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486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medicflow.app.br · Documentação: docs/ · Auditoria: 08/06/2026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